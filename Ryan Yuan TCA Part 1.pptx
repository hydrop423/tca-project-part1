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3"/>
  </p:notesMasterIdLst>
  <p:sldIdLst>
    <p:sldId id="256" r:id="rId5"/>
    <p:sldId id="268" r:id="rId6"/>
    <p:sldId id="274" r:id="rId7"/>
    <p:sldId id="271" r:id="rId8"/>
    <p:sldId id="283" r:id="rId9"/>
    <p:sldId id="278" r:id="rId10"/>
    <p:sldId id="272" r:id="rId11"/>
    <p:sldId id="279" r:id="rId12"/>
    <p:sldId id="275" r:id="rId13"/>
    <p:sldId id="285" r:id="rId14"/>
    <p:sldId id="270" r:id="rId15"/>
    <p:sldId id="280" r:id="rId16"/>
    <p:sldId id="273" r:id="rId17"/>
    <p:sldId id="281" r:id="rId18"/>
    <p:sldId id="276" r:id="rId19"/>
    <p:sldId id="277" r:id="rId20"/>
    <p:sldId id="282" r:id="rId21"/>
    <p:sldId id="269" r:id="rId22"/>
  </p:sldIdLst>
  <p:sldSz cx="12192000" cy="6858000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Grandview" panose="020B0502040204020203" pitchFamily="34" charset="0"/>
      <p:regular r:id="rId25"/>
      <p:bold r:id="rId26"/>
      <p:italic r:id="rId27"/>
      <p:boldItalic r:id="rId28"/>
    </p:embeddedFont>
    <p:embeddedFont>
      <p:font typeface="Jura SemiBold" pitchFamily="2" charset="0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  <a:srgbClr val="CCCCCC"/>
    <a:srgbClr val="191919"/>
    <a:srgbClr val="3333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89"/>
    <p:restoredTop sz="94684"/>
  </p:normalViewPr>
  <p:slideViewPr>
    <p:cSldViewPr snapToGrid="0">
      <p:cViewPr varScale="1">
        <p:scale>
          <a:sx n="108" d="100"/>
          <a:sy n="108" d="100"/>
        </p:scale>
        <p:origin x="77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6814D-83B6-4091-989B-5715784C288A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BAA48-91EA-4431-9E2A-A15058C7A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41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79BE-8132-456B-E9C4-16F6BB729A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68A81-DF2A-0775-37D8-F913493B0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57377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79BE-8132-456B-E9C4-16F6BB729A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68A81-DF2A-0775-37D8-F913493B0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3791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1AB604-E8CA-CF00-1811-CADFD3A611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EECC6BC-502E-83B9-510E-8E589BF9A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636544"/>
            <a:ext cx="2743200" cy="2214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DA780-C10F-4A90-9301-4FE929908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5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8C3D53F-CE89-26F8-6A8F-61A6D9FE0E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73B4D36-1366-C400-8618-57357CD89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636544"/>
            <a:ext cx="2743200" cy="2214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DA780-C10F-4A90-9301-4FE929908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8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onics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F92-3B66-DF9F-2EC3-BCB9A37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DF2DD1B-A104-32FA-C4C3-1056631880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24816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onic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E51E3A-FB71-5766-1EEF-F94B9399E7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1D0675F-EFA6-CB77-5DD7-40809A6E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7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ght Dynamics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F92-3B66-DF9F-2EC3-BCB9A37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4854D80-9400-9B0A-FED7-1B2C131020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70603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ght Dynamic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A57436F-C87D-C0D6-89DC-C69398C415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A187A60-EEEC-793E-D670-59652860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9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rations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F92-3B66-DF9F-2EC3-BCB9A37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5FB6CA4-C926-FCCD-BE03-E7100ACA6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43373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ration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7B9AB07-180A-1A4B-C1F6-2098534DF5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48496AD-D43C-A309-E394-C9FD92E3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0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pulsion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F92-3B66-DF9F-2EC3-BCB9A37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125BBB9-69F1-298B-6887-D66DEB69AC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599194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pulsion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6937354-BD01-52D6-0568-F896F7E77C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E3AC691-8A42-60FD-27C1-58DC4598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9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ctures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F92-3B66-DF9F-2EC3-BCB9A37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FB8BF72-02B4-E89C-DCDF-6143A11BD2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189944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ctures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DCC-F437-4BF2-3A3B-B75EDF79A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0055-0092-3980-F841-BC8976F4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1362944-98A6-C803-8D69-F0355CD15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7F04B9B-E349-B4B4-957A-CB97269C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06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97C0-4752-AD26-53F2-56EF21064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F0310-E176-F347-2D7D-7C1C81EA4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tint val="82000"/>
                  </a:schemeClr>
                </a:solidFill>
                <a:effectLst/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943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97C0-4752-AD26-53F2-56EF21064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F0310-E176-F347-2D7D-7C1C81EA4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tint val="82000"/>
                  </a:schemeClr>
                </a:solidFill>
                <a:effectLst/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0051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4BF4-40F3-5E33-AC84-FE47A0383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DC8D3-CA83-D880-B5CE-FDB1F3CEF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789E8-2ADA-171F-EEA8-1EE6CD846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4C60F-EEE5-AE15-3400-AAF0D48C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87428EF-50D8-B4EE-F5F9-97C8077993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583768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4BF4-40F3-5E33-AC84-FE47A0383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DC8D3-CA83-D880-B5CE-FDB1F3CEF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789E8-2ADA-171F-EEA8-1EE6CD846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0DED069-2CF9-D974-9042-FBB02D56E6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97496"/>
            <a:ext cx="10515600" cy="39319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10682D-354A-090F-4268-9E94C243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6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0DA6F-489C-75A1-46DC-D6341879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224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08FD8C-0D7F-4BF3-2649-6CBB9334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050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ank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BA06F-273B-7024-1946-FF04F1B074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5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ank Dark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1F8E27C-41F2-7A0A-33C6-996ED378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36544"/>
            <a:ext cx="2743200" cy="221456"/>
          </a:xfrm>
        </p:spPr>
        <p:txBody>
          <a:bodyPr/>
          <a:lstStyle/>
          <a:p>
            <a:fld id="{D15DA780-C10F-4A90-9301-4FE929908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9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ABDA6-8703-AA2D-D556-EFF7D5C1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5EC09-A0B9-2A10-DB85-6408370FD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3600E-7CEE-C67B-3E81-A7EBDC731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636544"/>
            <a:ext cx="2743200" cy="2214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DA780-C10F-4A90-9301-4FE929908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0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0" r:id="rId3"/>
    <p:sldLayoutId id="2147483664" r:id="rId4"/>
    <p:sldLayoutId id="2147483659" r:id="rId5"/>
    <p:sldLayoutId id="2147483665" r:id="rId6"/>
    <p:sldLayoutId id="2147483658" r:id="rId7"/>
    <p:sldLayoutId id="2147483666" r:id="rId8"/>
    <p:sldLayoutId id="2147483660" r:id="rId9"/>
    <p:sldLayoutId id="2147483667" r:id="rId10"/>
    <p:sldLayoutId id="2147483661" r:id="rId11"/>
    <p:sldLayoutId id="2147483668" r:id="rId12"/>
    <p:sldLayoutId id="2147483662" r:id="rId13"/>
    <p:sldLayoutId id="2147483669" r:id="rId14"/>
    <p:sldLayoutId id="2147483651" r:id="rId15"/>
    <p:sldLayoutId id="2147483670" r:id="rId16"/>
    <p:sldLayoutId id="2147483652" r:id="rId17"/>
    <p:sldLayoutId id="2147483671" r:id="rId18"/>
    <p:sldLayoutId id="2147483655" r:id="rId19"/>
    <p:sldLayoutId id="2147483672" r:id="rId20"/>
    <p:sldLayoutId id="2147483673" r:id="rId21"/>
    <p:sldLayoutId id="2147483674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effectLst/>
          <a:latin typeface="+mj-lt"/>
          <a:ea typeface="Jura" pitchFamily="2" charset="0"/>
          <a:cs typeface="Rubik SemiBold" pitchFamily="2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7BF16-1EF7-356B-5F88-FB33C8CA48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Jura SemiBold" pitchFamily="2" charset="0"/>
                <a:ea typeface="Jura SemiBold" pitchFamily="2" charset="0"/>
              </a:rPr>
              <a:t>TCA Project 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65DA0-0661-D4C6-FD1E-0A4A571B5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Ryan Yuan</a:t>
            </a:r>
          </a:p>
        </p:txBody>
      </p:sp>
    </p:spTree>
    <p:extLst>
      <p:ext uri="{BB962C8B-B14F-4D97-AF65-F5344CB8AC3E}">
        <p14:creationId xmlns:p14="http://schemas.microsoft.com/office/powerpoint/2010/main" val="28748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CCA2-1BBC-AAE9-F85E-59201D69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Rubik SemiBold"/>
              </a:rPr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E704-F853-7991-DE96-2E8B20DD5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Equilibrium Model</a:t>
            </a:r>
          </a:p>
          <a:p>
            <a:pPr lvl="1"/>
            <a:r>
              <a:rPr lang="en-US" dirty="0"/>
              <a:t>Program a calculator to find the mole fractions, chamber temperature, and other critical values at chemical equilibrium</a:t>
            </a:r>
          </a:p>
          <a:p>
            <a:pPr lvl="1"/>
            <a:r>
              <a:rPr lang="en-US" dirty="0"/>
              <a:t>MR = 2.0</a:t>
            </a:r>
          </a:p>
          <a:p>
            <a:pPr marL="514350" indent="-514350">
              <a:buAutoNum type="arabicPeriod"/>
            </a:pPr>
            <a:r>
              <a:rPr lang="en-US" dirty="0"/>
              <a:t>TCA Contour</a:t>
            </a:r>
          </a:p>
          <a:p>
            <a:pPr lvl="1"/>
            <a:r>
              <a:rPr lang="en-US" dirty="0"/>
              <a:t>Choose a MR and NFZ model</a:t>
            </a:r>
          </a:p>
          <a:p>
            <a:pPr lvl="1"/>
            <a:r>
              <a:rPr lang="en-US" dirty="0"/>
              <a:t>Calculate performance variables</a:t>
            </a:r>
          </a:p>
          <a:p>
            <a:pPr lvl="1"/>
            <a:r>
              <a:rPr lang="en-US" dirty="0"/>
              <a:t>Design a TCA contour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57FF1-6BEE-4822-AE09-E311795A30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Design a TCA contour for an RP-1/LOX engine and calculate critical values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B7BE7-F1EC-8573-712D-7C42F3D65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0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85671-2879-4C14-0321-F8EF64BE8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DD88-A984-A3F8-3AB1-3AD15C891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5563"/>
            <a:ext cx="9144000" cy="2387600"/>
          </a:xfrm>
        </p:spPr>
        <p:txBody>
          <a:bodyPr/>
          <a:lstStyle/>
          <a:p>
            <a:r>
              <a:rPr lang="en-US" dirty="0">
                <a:latin typeface="Jura SemiBold" pitchFamily="2" charset="0"/>
                <a:ea typeface="Jura SemiBold" pitchFamily="2" charset="0"/>
              </a:rPr>
              <a:t>Equilibrium Calculator</a:t>
            </a:r>
          </a:p>
        </p:txBody>
      </p:sp>
    </p:spTree>
    <p:extLst>
      <p:ext uri="{BB962C8B-B14F-4D97-AF65-F5344CB8AC3E}">
        <p14:creationId xmlns:p14="http://schemas.microsoft.com/office/powerpoint/2010/main" val="2287778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12B5-A82F-5ECA-8D21-10C81379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DA52C-A5CA-8091-5D57-4F8BDC2F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92745-535C-C5C2-CF8B-1329DAEBD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893" y="1002204"/>
            <a:ext cx="3890554" cy="630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MR = 2.0 -&gt; ⦰ = 1.74</a:t>
            </a:r>
          </a:p>
          <a:p>
            <a:pPr marL="0" indent="0">
              <a:buNone/>
            </a:pP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2F81532-64D2-EB34-CA76-34A8377283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4819" y="1755699"/>
                <a:ext cx="6028765" cy="6301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𝟕𝟒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+18.5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𝐶𝑂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𝐶𝑂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2F81532-64D2-EB34-CA76-34A837728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19" y="1755699"/>
                <a:ext cx="6028765" cy="6301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2236B14-C3F1-5224-1DF9-90D1C05FCD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0575" y="2589937"/>
                <a:ext cx="6028765" cy="6301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𝒳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𝐶𝑂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=0.4800,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𝒳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3716,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𝒳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1484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2236B14-C3F1-5224-1DF9-90D1C05FC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575" y="2589937"/>
                <a:ext cx="6028765" cy="6301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02945F1D-2F30-B15C-335A-5B9CAEDB3E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3" t="72026" r="55225" b="21898"/>
          <a:stretch>
            <a:fillRect/>
          </a:stretch>
        </p:blipFill>
        <p:spPr>
          <a:xfrm>
            <a:off x="520039" y="5023643"/>
            <a:ext cx="4013640" cy="761408"/>
          </a:xfrm>
          <a:prstGeom prst="rect">
            <a:avLst/>
          </a:prstGeom>
        </p:spPr>
      </p:pic>
      <p:pic>
        <p:nvPicPr>
          <p:cNvPr id="10" name="Picture 9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A69607A1-FFAA-C02E-4C1D-D3EA0084F6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03" t="1337" r="12656" b="88571"/>
          <a:stretch>
            <a:fillRect/>
          </a:stretch>
        </p:blipFill>
        <p:spPr>
          <a:xfrm>
            <a:off x="520039" y="3416002"/>
            <a:ext cx="4907535" cy="98316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867E7B8-AB04-F2CB-AAE5-561A64AF1270}"/>
              </a:ext>
            </a:extLst>
          </p:cNvPr>
          <p:cNvSpPr txBox="1">
            <a:spLocks/>
          </p:cNvSpPr>
          <p:nvPr/>
        </p:nvSpPr>
        <p:spPr>
          <a:xfrm>
            <a:off x="7234226" y="1002204"/>
            <a:ext cx="3890554" cy="6301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Python function(): iterate through T and minimize residual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98D67A3-83A9-01FE-1A15-86327E526954}"/>
              </a:ext>
            </a:extLst>
          </p:cNvPr>
          <p:cNvSpPr txBox="1">
            <a:spLocks/>
          </p:cNvSpPr>
          <p:nvPr/>
        </p:nvSpPr>
        <p:spPr>
          <a:xfrm>
            <a:off x="7234226" y="2019438"/>
            <a:ext cx="3890554" cy="630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 = 3404.6 K</a:t>
            </a:r>
          </a:p>
        </p:txBody>
      </p:sp>
      <p:pic>
        <p:nvPicPr>
          <p:cNvPr id="16" name="Picture 15" descr="A math equations written on a graph paper&#10;&#10;AI-generated content may be incorrect.">
            <a:extLst>
              <a:ext uri="{FF2B5EF4-FFF2-40B4-BE49-F238E27FC236}">
                <a16:creationId xmlns:a16="http://schemas.microsoft.com/office/drawing/2014/main" id="{D26186AC-A95E-A4F3-4606-C7358C00DC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2" b="55671"/>
          <a:stretch>
            <a:fillRect/>
          </a:stretch>
        </p:blipFill>
        <p:spPr>
          <a:xfrm>
            <a:off x="7012184" y="2905033"/>
            <a:ext cx="4907534" cy="304966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A0D569-4E89-5196-7381-CA0A680D9EF3}"/>
              </a:ext>
            </a:extLst>
          </p:cNvPr>
          <p:cNvCxnSpPr/>
          <p:nvPr/>
        </p:nvCxnSpPr>
        <p:spPr>
          <a:xfrm>
            <a:off x="1781298" y="1317300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B0297C9-59B8-0012-D273-A93F74009E3C}"/>
              </a:ext>
            </a:extLst>
          </p:cNvPr>
          <p:cNvCxnSpPr/>
          <p:nvPr/>
        </p:nvCxnSpPr>
        <p:spPr>
          <a:xfrm>
            <a:off x="1781298" y="2151538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3A9D20-91A8-FA6A-E000-9343F790AF76}"/>
              </a:ext>
            </a:extLst>
          </p:cNvPr>
          <p:cNvCxnSpPr/>
          <p:nvPr/>
        </p:nvCxnSpPr>
        <p:spPr>
          <a:xfrm>
            <a:off x="1781298" y="2905033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D20BD9-75AE-32D2-72F1-7CB4C51FDE9B}"/>
              </a:ext>
            </a:extLst>
          </p:cNvPr>
          <p:cNvCxnSpPr/>
          <p:nvPr/>
        </p:nvCxnSpPr>
        <p:spPr>
          <a:xfrm>
            <a:off x="1767442" y="4429866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471EB5-5D39-07FC-7854-7FADDBAB6C81}"/>
              </a:ext>
            </a:extLst>
          </p:cNvPr>
          <p:cNvCxnSpPr/>
          <p:nvPr/>
        </p:nvCxnSpPr>
        <p:spPr>
          <a:xfrm>
            <a:off x="8000008" y="1575960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DE8300-CC11-995B-1FC2-6A43CA28C5FB}"/>
              </a:ext>
            </a:extLst>
          </p:cNvPr>
          <p:cNvCxnSpPr/>
          <p:nvPr/>
        </p:nvCxnSpPr>
        <p:spPr>
          <a:xfrm>
            <a:off x="14232574" y="-1277946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6A709D-4828-38B0-CB72-34419BCCD3B0}"/>
              </a:ext>
            </a:extLst>
          </p:cNvPr>
          <p:cNvCxnSpPr/>
          <p:nvPr/>
        </p:nvCxnSpPr>
        <p:spPr>
          <a:xfrm>
            <a:off x="8000008" y="2385891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8AB5FC0-3DAA-6A79-3CE9-15AE6107AADD}"/>
              </a:ext>
            </a:extLst>
          </p:cNvPr>
          <p:cNvSpPr txBox="1">
            <a:spLocks/>
          </p:cNvSpPr>
          <p:nvPr/>
        </p:nvSpPr>
        <p:spPr>
          <a:xfrm>
            <a:off x="8066550" y="2441491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Isentropic Flow Equations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77B93172-CA42-3442-4A05-D50E236A46EA}"/>
              </a:ext>
            </a:extLst>
          </p:cNvPr>
          <p:cNvSpPr txBox="1">
            <a:spLocks/>
          </p:cNvSpPr>
          <p:nvPr/>
        </p:nvSpPr>
        <p:spPr>
          <a:xfrm>
            <a:off x="1841992" y="1391874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Balance RP1-LOX combustion reaction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0D01A72-718B-01A5-E802-71A36F81FB3B}"/>
              </a:ext>
            </a:extLst>
          </p:cNvPr>
          <p:cNvSpPr txBox="1">
            <a:spLocks/>
          </p:cNvSpPr>
          <p:nvPr/>
        </p:nvSpPr>
        <p:spPr>
          <a:xfrm>
            <a:off x="1841992" y="2214183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Solve system of 3 equations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828497E-CCAF-5C3E-81B0-CB49E633C23B}"/>
              </a:ext>
            </a:extLst>
          </p:cNvPr>
          <p:cNvSpPr txBox="1">
            <a:spLocks/>
          </p:cNvSpPr>
          <p:nvPr/>
        </p:nvSpPr>
        <p:spPr>
          <a:xfrm>
            <a:off x="1868217" y="3007898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Conservation of energy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6E317D2-91D7-49E8-9C27-5C828A78EDF6}"/>
              </a:ext>
            </a:extLst>
          </p:cNvPr>
          <p:cNvSpPr txBox="1">
            <a:spLocks/>
          </p:cNvSpPr>
          <p:nvPr/>
        </p:nvSpPr>
        <p:spPr>
          <a:xfrm>
            <a:off x="1882378" y="4560435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Plug in enthalpies of formation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B8A55EF-A24B-00A9-8E53-C8D495E58ABC}"/>
              </a:ext>
            </a:extLst>
          </p:cNvPr>
          <p:cNvSpPr txBox="1">
            <a:spLocks/>
          </p:cNvSpPr>
          <p:nvPr/>
        </p:nvSpPr>
        <p:spPr>
          <a:xfrm>
            <a:off x="8078425" y="1679661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200 iterations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F106CE5-DFED-8C93-E5AF-A017C746B5F5}"/>
              </a:ext>
            </a:extLst>
          </p:cNvPr>
          <p:cNvCxnSpPr>
            <a:cxnSpLocks/>
          </p:cNvCxnSpPr>
          <p:nvPr/>
        </p:nvCxnSpPr>
        <p:spPr>
          <a:xfrm>
            <a:off x="4690753" y="5404347"/>
            <a:ext cx="19594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213BD11-0094-4421-725F-0BB56AF21DA9}"/>
              </a:ext>
            </a:extLst>
          </p:cNvPr>
          <p:cNvCxnSpPr>
            <a:cxnSpLocks/>
          </p:cNvCxnSpPr>
          <p:nvPr/>
        </p:nvCxnSpPr>
        <p:spPr>
          <a:xfrm flipV="1">
            <a:off x="6638306" y="1302898"/>
            <a:ext cx="0" cy="41014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47F7770-8EE5-994D-E4E0-6DE193D2EB7B}"/>
              </a:ext>
            </a:extLst>
          </p:cNvPr>
          <p:cNvCxnSpPr/>
          <p:nvPr/>
        </p:nvCxnSpPr>
        <p:spPr>
          <a:xfrm>
            <a:off x="6650182" y="1317300"/>
            <a:ext cx="4631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B4911D17-6AD8-C43B-5C49-07C9F67C5B78}"/>
              </a:ext>
            </a:extLst>
          </p:cNvPr>
          <p:cNvSpPr txBox="1">
            <a:spLocks/>
          </p:cNvSpPr>
          <p:nvPr/>
        </p:nvSpPr>
        <p:spPr>
          <a:xfrm>
            <a:off x="414819" y="237606"/>
            <a:ext cx="3890554" cy="630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289552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C448-BD52-42A6-B371-59A31447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E9743-521E-47FB-F297-7BD3FF153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1"/>
            <a:ext cx="10515600" cy="1325563"/>
          </a:xfrm>
        </p:spPr>
        <p:txBody>
          <a:bodyPr/>
          <a:lstStyle/>
          <a:p>
            <a:r>
              <a:rPr lang="en-US" dirty="0">
                <a:cs typeface="Rubik SemiBold"/>
              </a:rPr>
              <a:t>Mole Fractions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A95ED-8AB0-667A-06AE-02DF39C5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7BBB6D-E7B6-685A-0E52-A29D264B9CE0}"/>
              </a:ext>
            </a:extLst>
          </p:cNvPr>
          <p:cNvGraphicFramePr>
            <a:graphicFrameLocks noGrp="1"/>
          </p:cNvGraphicFramePr>
          <p:nvPr/>
        </p:nvGraphicFramePr>
        <p:xfrm>
          <a:off x="492654" y="1612259"/>
          <a:ext cx="11323638" cy="4112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140">
                  <a:extLst>
                    <a:ext uri="{9D8B030D-6E8A-4147-A177-3AD203B41FA5}">
                      <a16:colId xmlns:a16="http://schemas.microsoft.com/office/drawing/2014/main" val="468937072"/>
                    </a:ext>
                  </a:extLst>
                </a:gridCol>
                <a:gridCol w="1139140">
                  <a:extLst>
                    <a:ext uri="{9D8B030D-6E8A-4147-A177-3AD203B41FA5}">
                      <a16:colId xmlns:a16="http://schemas.microsoft.com/office/drawing/2014/main" val="3426639190"/>
                    </a:ext>
                  </a:extLst>
                </a:gridCol>
                <a:gridCol w="1139140">
                  <a:extLst>
                    <a:ext uri="{9D8B030D-6E8A-4147-A177-3AD203B41FA5}">
                      <a16:colId xmlns:a16="http://schemas.microsoft.com/office/drawing/2014/main" val="568670381"/>
                    </a:ext>
                  </a:extLst>
                </a:gridCol>
                <a:gridCol w="1139140">
                  <a:extLst>
                    <a:ext uri="{9D8B030D-6E8A-4147-A177-3AD203B41FA5}">
                      <a16:colId xmlns:a16="http://schemas.microsoft.com/office/drawing/2014/main" val="1814893733"/>
                    </a:ext>
                  </a:extLst>
                </a:gridCol>
                <a:gridCol w="1139140">
                  <a:extLst>
                    <a:ext uri="{9D8B030D-6E8A-4147-A177-3AD203B41FA5}">
                      <a16:colId xmlns:a16="http://schemas.microsoft.com/office/drawing/2014/main" val="3637440206"/>
                    </a:ext>
                  </a:extLst>
                </a:gridCol>
                <a:gridCol w="1139140">
                  <a:extLst>
                    <a:ext uri="{9D8B030D-6E8A-4147-A177-3AD203B41FA5}">
                      <a16:colId xmlns:a16="http://schemas.microsoft.com/office/drawing/2014/main" val="1957763418"/>
                    </a:ext>
                  </a:extLst>
                </a:gridCol>
                <a:gridCol w="1139140">
                  <a:extLst>
                    <a:ext uri="{9D8B030D-6E8A-4147-A177-3AD203B41FA5}">
                      <a16:colId xmlns:a16="http://schemas.microsoft.com/office/drawing/2014/main" val="1985315384"/>
                    </a:ext>
                  </a:extLst>
                </a:gridCol>
                <a:gridCol w="1206904">
                  <a:extLst>
                    <a:ext uri="{9D8B030D-6E8A-4147-A177-3AD203B41FA5}">
                      <a16:colId xmlns:a16="http://schemas.microsoft.com/office/drawing/2014/main" val="1431668893"/>
                    </a:ext>
                  </a:extLst>
                </a:gridCol>
                <a:gridCol w="1071377">
                  <a:extLst>
                    <a:ext uri="{9D8B030D-6E8A-4147-A177-3AD203B41FA5}">
                      <a16:colId xmlns:a16="http://schemas.microsoft.com/office/drawing/2014/main" val="1913995943"/>
                    </a:ext>
                  </a:extLst>
                </a:gridCol>
                <a:gridCol w="1071377">
                  <a:extLst>
                    <a:ext uri="{9D8B030D-6E8A-4147-A177-3AD203B41FA5}">
                      <a16:colId xmlns:a16="http://schemas.microsoft.com/office/drawing/2014/main" val="4192125998"/>
                    </a:ext>
                  </a:extLst>
                </a:gridCol>
              </a:tblGrid>
              <a:tr h="5912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CEA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CO H20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%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 H2O CO2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%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 H2 CO2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%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 H2 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%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133747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/>
                        <a:t>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0.4167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0.4800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+15.20%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0.1084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-73.98%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0.4048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-2.85%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55062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/>
                        <a:t>H20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0.2684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0.3716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+38.43%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22025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/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0.1854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0.1484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-19.94%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0.5200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180.52%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0.2818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+52.02%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508399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CO2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0.3716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226120"/>
                  </a:ext>
                </a:extLst>
              </a:tr>
              <a:tr h="694144">
                <a:tc>
                  <a:txBody>
                    <a:bodyPr/>
                    <a:lstStyle/>
                    <a:p>
                      <a:r>
                        <a:rPr lang="en-US" b="1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446578"/>
                  </a:ext>
                </a:extLst>
              </a:tr>
              <a:tr h="591283">
                <a:tc>
                  <a:txBody>
                    <a:bodyPr/>
                    <a:lstStyle/>
                    <a:p>
                      <a:r>
                        <a:rPr lang="en-US" b="1" dirty="0"/>
                        <a:t>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0.3134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+1529%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503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3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3662F-86D7-8BB7-FBB8-651D62BE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EDFDC-70C7-B6FA-466A-128ED996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23"/>
            <a:ext cx="10515600" cy="1325563"/>
          </a:xfrm>
        </p:spPr>
        <p:txBody>
          <a:bodyPr/>
          <a:lstStyle/>
          <a:p>
            <a:r>
              <a:rPr lang="en-US" dirty="0">
                <a:cs typeface="Rubik SemiBold"/>
              </a:rPr>
              <a:t>Discussion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CEE72-8FCD-AC8F-B7A1-13EA4839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1075D-F425-562C-15A9-E9A1C6990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102"/>
            <a:ext cx="10515600" cy="5041557"/>
          </a:xfrm>
        </p:spPr>
        <p:txBody>
          <a:bodyPr>
            <a:normAutofit/>
          </a:bodyPr>
          <a:lstStyle/>
          <a:p>
            <a:r>
              <a:rPr lang="en-US" dirty="0"/>
              <a:t>Why does the concentrations vary between your model and CEA? </a:t>
            </a:r>
          </a:p>
          <a:p>
            <a:pPr lvl="1"/>
            <a:r>
              <a:rPr lang="en-US" dirty="0"/>
              <a:t>My model only uses 3 species while CEA accounts for all species</a:t>
            </a:r>
          </a:p>
          <a:p>
            <a:pPr lvl="1"/>
            <a:r>
              <a:rPr lang="en-US" dirty="0"/>
              <a:t>The more major species I correctly choose, the more accurate my mole fractions are</a:t>
            </a:r>
          </a:p>
          <a:p>
            <a:pPr lvl="2"/>
            <a:r>
              <a:rPr lang="en-US" dirty="0"/>
              <a:t>CO, H2O, and H2 most accurate, while CO, H2, and </a:t>
            </a:r>
            <a:r>
              <a:rPr lang="en-US" b="1" dirty="0"/>
              <a:t>OH</a:t>
            </a:r>
            <a:r>
              <a:rPr lang="en-US" dirty="0"/>
              <a:t> least accurate</a:t>
            </a:r>
          </a:p>
          <a:p>
            <a:r>
              <a:rPr lang="en-US" dirty="0"/>
              <a:t>How can you make your model more accurate?</a:t>
            </a:r>
          </a:p>
          <a:p>
            <a:pPr lvl="1"/>
            <a:r>
              <a:rPr lang="en-US" dirty="0"/>
              <a:t>Use the </a:t>
            </a:r>
            <a:r>
              <a:rPr lang="en-US" dirty="0" err="1"/>
              <a:t>Kp</a:t>
            </a:r>
            <a:r>
              <a:rPr lang="en-US" dirty="0"/>
              <a:t> formula and water-gas shift reaction</a:t>
            </a:r>
          </a:p>
          <a:p>
            <a:pPr lvl="2"/>
            <a:r>
              <a:rPr lang="en-US" dirty="0"/>
              <a:t>5 equations can now solve for 5 species</a:t>
            </a:r>
          </a:p>
          <a:p>
            <a:pPr lvl="1"/>
            <a:r>
              <a:rPr lang="en-US" dirty="0"/>
              <a:t>Each species’ fractions become more accurate. The 5 major species make up 97.8% of the products concentration.</a:t>
            </a:r>
          </a:p>
          <a:p>
            <a:pPr lvl="1"/>
            <a:r>
              <a:rPr lang="en-US" dirty="0"/>
              <a:t>Alternatively, write a program to minimize the Gibbs function G(</a:t>
            </a:r>
            <a:r>
              <a:rPr lang="en-US" dirty="0" err="1"/>
              <a:t>T,p</a:t>
            </a:r>
            <a:r>
              <a:rPr lang="en-US" dirty="0"/>
              <a:t>) to get all minor species</a:t>
            </a:r>
          </a:p>
        </p:txBody>
      </p:sp>
    </p:spTree>
    <p:extLst>
      <p:ext uri="{BB962C8B-B14F-4D97-AF65-F5344CB8AC3E}">
        <p14:creationId xmlns:p14="http://schemas.microsoft.com/office/powerpoint/2010/main" val="4229809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84049-3B16-EF00-A171-5B081999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A5A4-33EB-01B5-9639-AD31B4BA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1"/>
            <a:ext cx="10515600" cy="1325563"/>
          </a:xfrm>
        </p:spPr>
        <p:txBody>
          <a:bodyPr/>
          <a:lstStyle/>
          <a:p>
            <a:r>
              <a:rPr lang="en-US" dirty="0">
                <a:cs typeface="Rubik SemiBold"/>
              </a:rPr>
              <a:t>Critical Values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6BDA0-5C10-B8B6-F5EE-ED770850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7B6A9F-40D9-AD79-53DD-9FA0C7325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354385"/>
              </p:ext>
            </p:extLst>
          </p:nvPr>
        </p:nvGraphicFramePr>
        <p:xfrm>
          <a:off x="492653" y="1425221"/>
          <a:ext cx="11062036" cy="4983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840">
                  <a:extLst>
                    <a:ext uri="{9D8B030D-6E8A-4147-A177-3AD203B41FA5}">
                      <a16:colId xmlns:a16="http://schemas.microsoft.com/office/drawing/2014/main" val="468937072"/>
                    </a:ext>
                  </a:extLst>
                </a:gridCol>
                <a:gridCol w="901440">
                  <a:extLst>
                    <a:ext uri="{9D8B030D-6E8A-4147-A177-3AD203B41FA5}">
                      <a16:colId xmlns:a16="http://schemas.microsoft.com/office/drawing/2014/main" val="3426639190"/>
                    </a:ext>
                  </a:extLst>
                </a:gridCol>
                <a:gridCol w="1201919">
                  <a:extLst>
                    <a:ext uri="{9D8B030D-6E8A-4147-A177-3AD203B41FA5}">
                      <a16:colId xmlns:a16="http://schemas.microsoft.com/office/drawing/2014/main" val="568670381"/>
                    </a:ext>
                  </a:extLst>
                </a:gridCol>
                <a:gridCol w="901439">
                  <a:extLst>
                    <a:ext uri="{9D8B030D-6E8A-4147-A177-3AD203B41FA5}">
                      <a16:colId xmlns:a16="http://schemas.microsoft.com/office/drawing/2014/main" val="1814893733"/>
                    </a:ext>
                  </a:extLst>
                </a:gridCol>
                <a:gridCol w="1327120">
                  <a:extLst>
                    <a:ext uri="{9D8B030D-6E8A-4147-A177-3AD203B41FA5}">
                      <a16:colId xmlns:a16="http://schemas.microsoft.com/office/drawing/2014/main" val="3637440206"/>
                    </a:ext>
                  </a:extLst>
                </a:gridCol>
                <a:gridCol w="1091532">
                  <a:extLst>
                    <a:ext uri="{9D8B030D-6E8A-4147-A177-3AD203B41FA5}">
                      <a16:colId xmlns:a16="http://schemas.microsoft.com/office/drawing/2014/main" val="1957763418"/>
                    </a:ext>
                  </a:extLst>
                </a:gridCol>
                <a:gridCol w="1372549">
                  <a:extLst>
                    <a:ext uri="{9D8B030D-6E8A-4147-A177-3AD203B41FA5}">
                      <a16:colId xmlns:a16="http://schemas.microsoft.com/office/drawing/2014/main" val="1985315384"/>
                    </a:ext>
                  </a:extLst>
                </a:gridCol>
                <a:gridCol w="1454197">
                  <a:extLst>
                    <a:ext uri="{9D8B030D-6E8A-4147-A177-3AD203B41FA5}">
                      <a16:colId xmlns:a16="http://schemas.microsoft.com/office/drawing/2014/main" val="1431668893"/>
                    </a:ext>
                  </a:extLst>
                </a:gridCol>
              </a:tblGrid>
              <a:tr h="5912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CEA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CO H20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% 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 H2O CO2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% 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 H2 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% Err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133747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/>
                        <a:t>Adiabatic Flame Temperature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3257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3405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+4.53%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3897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+19.65%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-61.51%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55062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/>
                        <a:t>Chamber Molecular Weight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-1.11%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-1.12%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17.23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-16.64%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22025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/>
                        <a:t>Chamber Specific Heat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+7.74%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+14.03%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508399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Exhaust Mach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2.779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+0.07%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2.791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+0.50%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2.832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226120"/>
                  </a:ext>
                </a:extLst>
              </a:tr>
              <a:tr h="694144">
                <a:tc>
                  <a:txBody>
                    <a:bodyPr/>
                    <a:lstStyle/>
                    <a:p>
                      <a:r>
                        <a:rPr lang="en-US" b="1" dirty="0"/>
                        <a:t>Exhaust Temperature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+8.40%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+17.91%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-67.34%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446578"/>
                  </a:ext>
                </a:extLst>
              </a:tr>
              <a:tr h="591283">
                <a:tc>
                  <a:txBody>
                    <a:bodyPr/>
                    <a:lstStyle/>
                    <a:p>
                      <a:r>
                        <a:rPr lang="en-US" b="1" dirty="0"/>
                        <a:t>Exhaust Velocity (m/s)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+1.87%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+7.69%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-35.57%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503159"/>
                  </a:ext>
                </a:extLst>
              </a:tr>
              <a:tr h="591283">
                <a:tc>
                  <a:txBody>
                    <a:bodyPr/>
                    <a:lstStyle/>
                    <a:p>
                      <a:r>
                        <a:rPr lang="en-US" b="1" dirty="0"/>
                        <a:t>Specific Impulse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284.8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+7.69%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-35.72%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65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2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7A17-D581-B6ED-C417-46BDFA828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552F-CF0F-532F-DFCB-96668BF84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23"/>
            <a:ext cx="10515600" cy="1325563"/>
          </a:xfrm>
        </p:spPr>
        <p:txBody>
          <a:bodyPr/>
          <a:lstStyle/>
          <a:p>
            <a:r>
              <a:rPr lang="en-US" dirty="0">
                <a:cs typeface="Rubik SemiBold"/>
              </a:rPr>
              <a:t>Discussion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D6406F-C5CA-3DCD-499A-00479B23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5C632-15C9-73A7-6871-C401E531A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102"/>
            <a:ext cx="10515600" cy="5041557"/>
          </a:xfrm>
        </p:spPr>
        <p:txBody>
          <a:bodyPr>
            <a:normAutofit/>
          </a:bodyPr>
          <a:lstStyle/>
          <a:p>
            <a:r>
              <a:rPr lang="en-US" dirty="0"/>
              <a:t>How much does your model vary from CEA and why?</a:t>
            </a:r>
          </a:p>
          <a:p>
            <a:pPr lvl="1"/>
            <a:r>
              <a:rPr lang="en-US" dirty="0"/>
              <a:t>CO, H2O, and H2: low error of +0.07% (Me), high error of +8.40% (</a:t>
            </a:r>
            <a:r>
              <a:rPr lang="en-US" dirty="0" err="1"/>
              <a:t>Te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Fairly accurate because uses the 3 major species of RP1-LOX reaction</a:t>
            </a:r>
          </a:p>
          <a:p>
            <a:r>
              <a:rPr lang="en-US" dirty="0"/>
              <a:t>What are the shortcomings of your model?</a:t>
            </a:r>
          </a:p>
          <a:p>
            <a:pPr lvl="1"/>
            <a:r>
              <a:rPr lang="en-US" dirty="0"/>
              <a:t>Doesn’t use all species, so critical values will have noticeable error</a:t>
            </a:r>
          </a:p>
          <a:p>
            <a:r>
              <a:rPr lang="en-US" dirty="0"/>
              <a:t>What are some improvement techniques?</a:t>
            </a:r>
          </a:p>
          <a:p>
            <a:pPr lvl="1"/>
            <a:r>
              <a:rPr lang="en-US" dirty="0"/>
              <a:t>Minimize Gibbs free energy to get all minor species for higher accuracy</a:t>
            </a:r>
          </a:p>
          <a:p>
            <a:r>
              <a:rPr lang="en-US" dirty="0"/>
              <a:t>How could you extend it to become a general equilibrium solver?</a:t>
            </a:r>
          </a:p>
          <a:p>
            <a:pPr lvl="1"/>
            <a:r>
              <a:rPr lang="en-US" dirty="0"/>
              <a:t>Code is currently generalizable for any reaction with H, C, and O</a:t>
            </a:r>
          </a:p>
          <a:p>
            <a:pPr lvl="1"/>
            <a:r>
              <a:rPr lang="en-US" dirty="0"/>
              <a:t>Account for other elements like N, which would add a fourth equation</a:t>
            </a:r>
          </a:p>
        </p:txBody>
      </p:sp>
    </p:spTree>
    <p:extLst>
      <p:ext uri="{BB962C8B-B14F-4D97-AF65-F5344CB8AC3E}">
        <p14:creationId xmlns:p14="http://schemas.microsoft.com/office/powerpoint/2010/main" val="1307792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98BA-6DA4-56AD-7DA3-92B96B717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5336-164C-B565-59EB-5F4072397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5563"/>
            <a:ext cx="9144000" cy="2387600"/>
          </a:xfrm>
        </p:spPr>
        <p:txBody>
          <a:bodyPr/>
          <a:lstStyle/>
          <a:p>
            <a:r>
              <a:rPr lang="en-US" dirty="0">
                <a:latin typeface="Jura SemiBold" pitchFamily="2" charset="0"/>
                <a:ea typeface="Jura SemiBold" pitchFamily="2" charset="0"/>
              </a:rPr>
              <a:t>TCA Contour</a:t>
            </a:r>
          </a:p>
        </p:txBody>
      </p:sp>
    </p:spTree>
    <p:extLst>
      <p:ext uri="{BB962C8B-B14F-4D97-AF65-F5344CB8AC3E}">
        <p14:creationId xmlns:p14="http://schemas.microsoft.com/office/powerpoint/2010/main" val="880023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984E-E9E1-0F3D-D84F-DD7DA58C0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DFA96-A24B-6BD3-ED4C-A1E2D177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96979-6396-9A8C-BF67-6DF46BB48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277" y="1726594"/>
            <a:ext cx="3890554" cy="630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pyplot</a:t>
            </a:r>
            <a:r>
              <a:rPr lang="en-US" sz="2000" dirty="0"/>
              <a:t>(x=MR, y=Isp)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C9CF1D-DDDF-821F-C527-7560DBD60F81}"/>
              </a:ext>
            </a:extLst>
          </p:cNvPr>
          <p:cNvSpPr txBox="1">
            <a:spLocks/>
          </p:cNvSpPr>
          <p:nvPr/>
        </p:nvSpPr>
        <p:spPr>
          <a:xfrm>
            <a:off x="854203" y="2480089"/>
            <a:ext cx="6028765" cy="630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err="1"/>
              <a:t>pyplot</a:t>
            </a:r>
            <a:r>
              <a:rPr lang="en-US" sz="2000" dirty="0"/>
              <a:t>(x=MR, y=Tc)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0EEB9D-01BB-A80A-7E82-6954B8F746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7287" y="3314327"/>
                <a:ext cx="4448955" cy="6301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𝑟𝑜𝑐𝑘𝑒𝑡𝑐𝑒𝑎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𝑎𝑚𝑏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0EEB9D-01BB-A80A-7E82-6954B8F74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87" y="3314327"/>
                <a:ext cx="4448955" cy="6301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45EBF5-37AD-E1B2-5780-BEEBFDE54235}"/>
              </a:ext>
            </a:extLst>
          </p:cNvPr>
          <p:cNvCxnSpPr/>
          <p:nvPr/>
        </p:nvCxnSpPr>
        <p:spPr>
          <a:xfrm>
            <a:off x="2171199" y="2070917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FFD5F6-6B74-D75E-C903-008500894358}"/>
              </a:ext>
            </a:extLst>
          </p:cNvPr>
          <p:cNvCxnSpPr/>
          <p:nvPr/>
        </p:nvCxnSpPr>
        <p:spPr>
          <a:xfrm>
            <a:off x="2171199" y="2875928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DFDE50-5A17-EAEB-476F-CF39781266D7}"/>
              </a:ext>
            </a:extLst>
          </p:cNvPr>
          <p:cNvCxnSpPr/>
          <p:nvPr/>
        </p:nvCxnSpPr>
        <p:spPr>
          <a:xfrm>
            <a:off x="2171198" y="3732288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8A4698-FBA1-1F0F-DC37-4239A07582E7}"/>
              </a:ext>
            </a:extLst>
          </p:cNvPr>
          <p:cNvCxnSpPr/>
          <p:nvPr/>
        </p:nvCxnSpPr>
        <p:spPr>
          <a:xfrm>
            <a:off x="2206826" y="4928625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EF281D2-CE4B-830F-98F9-60C64A9DC43F}"/>
              </a:ext>
            </a:extLst>
          </p:cNvPr>
          <p:cNvCxnSpPr/>
          <p:nvPr/>
        </p:nvCxnSpPr>
        <p:spPr>
          <a:xfrm>
            <a:off x="14232574" y="-1277946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89ED956-A6B3-4203-AE8F-4421BD165856}"/>
              </a:ext>
            </a:extLst>
          </p:cNvPr>
          <p:cNvSpPr txBox="1">
            <a:spLocks/>
          </p:cNvSpPr>
          <p:nvPr/>
        </p:nvSpPr>
        <p:spPr>
          <a:xfrm>
            <a:off x="2281376" y="2116264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Verify Tc is reasonable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C7AEABF-7286-2397-F768-ABB24E7D16BE}"/>
              </a:ext>
            </a:extLst>
          </p:cNvPr>
          <p:cNvSpPr txBox="1">
            <a:spLocks/>
          </p:cNvSpPr>
          <p:nvPr/>
        </p:nvSpPr>
        <p:spPr>
          <a:xfrm>
            <a:off x="2281376" y="2938573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Calculate Cf and eps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25B94CD-0F87-64F0-311C-9AAA2C3AB1F6}"/>
              </a:ext>
            </a:extLst>
          </p:cNvPr>
          <p:cNvSpPr txBox="1">
            <a:spLocks/>
          </p:cNvSpPr>
          <p:nvPr/>
        </p:nvSpPr>
        <p:spPr>
          <a:xfrm>
            <a:off x="2307601" y="3791663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Calculate performance variables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E129EC3-D695-7E28-CFF9-0F8074E6664F}"/>
              </a:ext>
            </a:extLst>
          </p:cNvPr>
          <p:cNvSpPr txBox="1">
            <a:spLocks/>
          </p:cNvSpPr>
          <p:nvPr/>
        </p:nvSpPr>
        <p:spPr>
          <a:xfrm>
            <a:off x="2321762" y="5059194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Select geometric variables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A156327-9B39-2CC2-54EA-F58F302D51F9}"/>
              </a:ext>
            </a:extLst>
          </p:cNvPr>
          <p:cNvSpPr txBox="1">
            <a:spLocks/>
          </p:cNvSpPr>
          <p:nvPr/>
        </p:nvSpPr>
        <p:spPr>
          <a:xfrm>
            <a:off x="854203" y="273232"/>
            <a:ext cx="3890554" cy="630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/>
              <a:t>Workflow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6059C578-C140-564E-C334-118FD692AF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2727" y="4148425"/>
                <a:ext cx="4448952" cy="8806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̇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𝑒𝑡𝑐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6059C578-C140-564E-C334-118FD692A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27" y="4148425"/>
                <a:ext cx="4448952" cy="880629"/>
              </a:xfrm>
              <a:prstGeom prst="rect">
                <a:avLst/>
              </a:prstGeom>
              <a:blipFill>
                <a:blip r:embed="rId3"/>
                <a:stretch>
                  <a:fillRect t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colorful object with a black background&#10;&#10;AI-generated content may be incorrect.">
            <a:extLst>
              <a:ext uri="{FF2B5EF4-FFF2-40B4-BE49-F238E27FC236}">
                <a16:creationId xmlns:a16="http://schemas.microsoft.com/office/drawing/2014/main" id="{8B127758-5579-7082-7D19-CAE37DC16F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331" y="2270887"/>
            <a:ext cx="4748408" cy="271707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4417D8E-B101-F22E-0FBF-A4D9EE0B1D30}"/>
              </a:ext>
            </a:extLst>
          </p:cNvPr>
          <p:cNvSpPr txBox="1">
            <a:spLocks/>
          </p:cNvSpPr>
          <p:nvPr/>
        </p:nvSpPr>
        <p:spPr>
          <a:xfrm>
            <a:off x="896487" y="5524983"/>
            <a:ext cx="4169756" cy="6301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Nozzle shape, chamber length, contraction ratio, etc.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F17B2F-C722-8653-7646-AEE071CD7FC1}"/>
              </a:ext>
            </a:extLst>
          </p:cNvPr>
          <p:cNvCxnSpPr/>
          <p:nvPr/>
        </p:nvCxnSpPr>
        <p:spPr>
          <a:xfrm>
            <a:off x="4737831" y="5747653"/>
            <a:ext cx="7366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E619F7-C550-135D-B60C-E216D7ADD810}"/>
              </a:ext>
            </a:extLst>
          </p:cNvPr>
          <p:cNvCxnSpPr/>
          <p:nvPr/>
        </p:nvCxnSpPr>
        <p:spPr>
          <a:xfrm flipV="1">
            <a:off x="5474525" y="3612010"/>
            <a:ext cx="0" cy="21118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D8B5BE9-DA77-FE35-9B43-A4C757AD844D}"/>
              </a:ext>
            </a:extLst>
          </p:cNvPr>
          <p:cNvCxnSpPr/>
          <p:nvPr/>
        </p:nvCxnSpPr>
        <p:spPr>
          <a:xfrm>
            <a:off x="5474525" y="3612010"/>
            <a:ext cx="10212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3555A7F-0E8E-EE3C-CD4C-A9B621596274}"/>
              </a:ext>
            </a:extLst>
          </p:cNvPr>
          <p:cNvSpPr txBox="1">
            <a:spLocks/>
          </p:cNvSpPr>
          <p:nvPr/>
        </p:nvSpPr>
        <p:spPr>
          <a:xfrm>
            <a:off x="1433956" y="930228"/>
            <a:ext cx="1474484" cy="630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NFZ model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96F98A0-83F5-6774-D645-A3382882F96F}"/>
              </a:ext>
            </a:extLst>
          </p:cNvPr>
          <p:cNvCxnSpPr/>
          <p:nvPr/>
        </p:nvCxnSpPr>
        <p:spPr>
          <a:xfrm>
            <a:off x="2171199" y="1287124"/>
            <a:ext cx="0" cy="438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4D556C2-5C21-8387-ECC1-10F790D9370D}"/>
              </a:ext>
            </a:extLst>
          </p:cNvPr>
          <p:cNvSpPr txBox="1">
            <a:spLocks/>
          </p:cNvSpPr>
          <p:nvPr/>
        </p:nvSpPr>
        <p:spPr>
          <a:xfrm>
            <a:off x="2281376" y="1332471"/>
            <a:ext cx="3890554" cy="41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Find MR to maximize Isp</a:t>
            </a:r>
          </a:p>
        </p:txBody>
      </p:sp>
    </p:spTree>
    <p:extLst>
      <p:ext uri="{BB962C8B-B14F-4D97-AF65-F5344CB8AC3E}">
        <p14:creationId xmlns:p14="http://schemas.microsoft.com/office/powerpoint/2010/main" val="2867110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5ADE3-FAE1-4D97-7A04-EBC6F3DD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5ABDB-1E0F-8CCB-22B5-FF3AA998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11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6B32F61-76E1-2520-B4F7-33C692A4E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924" y="164589"/>
            <a:ext cx="10515600" cy="1325563"/>
          </a:xfrm>
        </p:spPr>
        <p:txBody>
          <a:bodyPr/>
          <a:lstStyle/>
          <a:p>
            <a:r>
              <a:rPr lang="en-US" dirty="0">
                <a:cs typeface="Rubik SemiBold"/>
              </a:rPr>
              <a:t>MR = 2.4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E9202D7-C2A1-2424-5FF2-3BC28BFB1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103"/>
            <a:ext cx="10515600" cy="1556952"/>
          </a:xfrm>
        </p:spPr>
        <p:txBody>
          <a:bodyPr>
            <a:normAutofit/>
          </a:bodyPr>
          <a:lstStyle/>
          <a:p>
            <a:r>
              <a:rPr lang="en-US" dirty="0"/>
              <a:t>Maximize Isp</a:t>
            </a:r>
          </a:p>
          <a:p>
            <a:r>
              <a:rPr lang="en-US" dirty="0"/>
              <a:t>Ensure Tc at that MR is not too hot for the engine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5785F25-D114-6BC6-712E-BB4EC582F030}"/>
              </a:ext>
            </a:extLst>
          </p:cNvPr>
          <p:cNvSpPr txBox="1">
            <a:spLocks/>
          </p:cNvSpPr>
          <p:nvPr/>
        </p:nvSpPr>
        <p:spPr>
          <a:xfrm>
            <a:off x="659924" y="219949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effectLst/>
                <a:latin typeface="+mj-lt"/>
                <a:ea typeface="Jura" pitchFamily="2" charset="0"/>
                <a:cs typeface="Rubik SemiBold" pitchFamily="2" charset="-79"/>
              </a:defRPr>
            </a:lvl1pPr>
          </a:lstStyle>
          <a:p>
            <a:r>
              <a:rPr lang="en-US" dirty="0">
                <a:cs typeface="Rubik SemiBold"/>
              </a:rPr>
              <a:t>NFZ Model = 2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2C3C4C-0962-3EAC-45FF-8BEDEA3013CE}"/>
              </a:ext>
            </a:extLst>
          </p:cNvPr>
          <p:cNvSpPr txBox="1">
            <a:spLocks/>
          </p:cNvSpPr>
          <p:nvPr/>
        </p:nvSpPr>
        <p:spPr>
          <a:xfrm>
            <a:off x="838200" y="3320010"/>
            <a:ext cx="10515600" cy="331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NFZ = 2: Assume equilibrium in chamber and frozen at throat</a:t>
            </a:r>
          </a:p>
          <a:p>
            <a:r>
              <a:rPr lang="en-US" dirty="0"/>
              <a:t>Chamber: the reaction happens so fast that it’s always in equilibrium, meaning net reaction rate = 0</a:t>
            </a:r>
          </a:p>
          <a:p>
            <a:r>
              <a:rPr lang="en-US" dirty="0"/>
              <a:t>Throat: the expansion happens so fast that the reaction essentially “freezes”, meaning mole fractions stays fixed</a:t>
            </a:r>
          </a:p>
          <a:p>
            <a:r>
              <a:rPr lang="en-US" dirty="0"/>
              <a:t>This is the most accurate assumption, balanced between equilibrium flow (higher Isp), and frozen flow (lower Isp)</a:t>
            </a: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127AFBD-86B4-E379-A5D6-882E2511C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117" y="642298"/>
            <a:ext cx="2583935" cy="84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46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C590-DF1A-8778-6E45-ADA57B8C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39E05-DDD0-74A0-55E8-B03F5F4BA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12</a:t>
            </a:fld>
            <a:endParaRPr lang="en-US"/>
          </a:p>
        </p:txBody>
      </p:sp>
      <p:pic>
        <p:nvPicPr>
          <p:cNvPr id="12" name="Picture 11" descr="A graph of a function&#10;&#10;AI-generated content may be incorrect.">
            <a:extLst>
              <a:ext uri="{FF2B5EF4-FFF2-40B4-BE49-F238E27FC236}">
                <a16:creationId xmlns:a16="http://schemas.microsoft.com/office/drawing/2014/main" id="{9F1435B0-699A-0799-45B3-5AC604C02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277" y="1604310"/>
            <a:ext cx="5634865" cy="3827994"/>
          </a:xfrm>
          <a:prstGeom prst="rect">
            <a:avLst/>
          </a:prstGeom>
        </p:spPr>
      </p:pic>
      <p:pic>
        <p:nvPicPr>
          <p:cNvPr id="14" name="Picture 13" descr="A graph of a function&#10;&#10;AI-generated content may be incorrect.">
            <a:extLst>
              <a:ext uri="{FF2B5EF4-FFF2-40B4-BE49-F238E27FC236}">
                <a16:creationId xmlns:a16="http://schemas.microsoft.com/office/drawing/2014/main" id="{A12227F7-FF4F-65DE-AF35-F2ECF4AE5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09" y="1606444"/>
            <a:ext cx="5610115" cy="382799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1B2EEC3-E006-941C-D421-8928CE85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924" y="312873"/>
            <a:ext cx="10515600" cy="1325563"/>
          </a:xfrm>
        </p:spPr>
        <p:txBody>
          <a:bodyPr/>
          <a:lstStyle/>
          <a:p>
            <a:r>
              <a:rPr lang="en-US" dirty="0">
                <a:cs typeface="Rubik SemiBold"/>
              </a:rPr>
              <a:t>MR = 2.4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921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9B60C-A3E1-78E4-E1B6-CF8FDD715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EB588-78CE-C937-779D-E5538E20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6A4CE6-3733-9215-F2A4-31B0A26CD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978872"/>
              </p:ext>
            </p:extLst>
          </p:nvPr>
        </p:nvGraphicFramePr>
        <p:xfrm>
          <a:off x="481103" y="1339027"/>
          <a:ext cx="5381812" cy="4063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94">
                  <a:extLst>
                    <a:ext uri="{9D8B030D-6E8A-4147-A177-3AD203B41FA5}">
                      <a16:colId xmlns:a16="http://schemas.microsoft.com/office/drawing/2014/main" val="468937072"/>
                    </a:ext>
                  </a:extLst>
                </a:gridCol>
                <a:gridCol w="788894">
                  <a:extLst>
                    <a:ext uri="{9D8B030D-6E8A-4147-A177-3AD203B41FA5}">
                      <a16:colId xmlns:a16="http://schemas.microsoft.com/office/drawing/2014/main" val="3426639190"/>
                    </a:ext>
                  </a:extLst>
                </a:gridCol>
                <a:gridCol w="1721224">
                  <a:extLst>
                    <a:ext uri="{9D8B030D-6E8A-4147-A177-3AD203B41FA5}">
                      <a16:colId xmlns:a16="http://schemas.microsoft.com/office/drawing/2014/main" val="568670381"/>
                    </a:ext>
                  </a:extLst>
                </a:gridCol>
              </a:tblGrid>
              <a:tr h="5912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Design Variable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Value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Calculation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133747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/>
                        <a:t>Mixture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f(Isp, Tc)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55062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Performance Variables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Calculation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22025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/>
                        <a:t>Specific Impulse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f(MR)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508399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Chamber Temperature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3466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f(MR)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226120"/>
                  </a:ext>
                </a:extLst>
              </a:tr>
              <a:tr h="694144">
                <a:tc>
                  <a:txBody>
                    <a:bodyPr/>
                    <a:lstStyle/>
                    <a:p>
                      <a:r>
                        <a:rPr lang="en-US" b="1" dirty="0"/>
                        <a:t>Ideal Thrust 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err="1"/>
                        <a:t>cea</a:t>
                      </a:r>
                      <a:r>
                        <a:rPr lang="en-US" sz="1200" b="1" dirty="0"/>
                        <a:t>(MR, Pc, </a:t>
                      </a:r>
                      <a:r>
                        <a:rPr lang="en-US" sz="1200" b="1" dirty="0" err="1"/>
                        <a:t>Pamb</a:t>
                      </a:r>
                      <a:r>
                        <a:rPr lang="en-US" sz="1200" b="1" dirty="0"/>
                        <a:t>, 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446578"/>
                  </a:ext>
                </a:extLst>
              </a:tr>
              <a:tr h="591283">
                <a:tc>
                  <a:txBody>
                    <a:bodyPr/>
                    <a:lstStyle/>
                    <a:p>
                      <a:r>
                        <a:rPr lang="en-US" b="1" dirty="0"/>
                        <a:t>Actual Thrust 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/>
                        <a:t>cea</a:t>
                      </a:r>
                      <a:r>
                        <a:rPr lang="en-US" sz="1200" b="1" dirty="0"/>
                        <a:t>(MR, Pc, </a:t>
                      </a:r>
                      <a:r>
                        <a:rPr lang="en-US" sz="1200" b="1" dirty="0" err="1"/>
                        <a:t>Pamb</a:t>
                      </a:r>
                      <a:r>
                        <a:rPr lang="en-US" sz="1200" b="1" dirty="0"/>
                        <a:t>, 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50315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14AEE16-6C01-ED06-C7F0-D33835A37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51"/>
            <a:ext cx="10515600" cy="1325563"/>
          </a:xfrm>
        </p:spPr>
        <p:txBody>
          <a:bodyPr/>
          <a:lstStyle/>
          <a:p>
            <a:r>
              <a:rPr lang="en-US" dirty="0">
                <a:cs typeface="Rubik SemiBold"/>
              </a:rPr>
              <a:t>Performance Variables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6EB72D3-08D8-E47F-83C7-B5C45A7A07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145241"/>
                  </p:ext>
                </p:extLst>
              </p:nvPr>
            </p:nvGraphicFramePr>
            <p:xfrm>
              <a:off x="6257362" y="1339027"/>
              <a:ext cx="5408706" cy="48648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9506">
                      <a:extLst>
                        <a:ext uri="{9D8B030D-6E8A-4147-A177-3AD203B41FA5}">
                          <a16:colId xmlns:a16="http://schemas.microsoft.com/office/drawing/2014/main" val="468937072"/>
                        </a:ext>
                      </a:extLst>
                    </a:gridCol>
                    <a:gridCol w="878541">
                      <a:extLst>
                        <a:ext uri="{9D8B030D-6E8A-4147-A177-3AD203B41FA5}">
                          <a16:colId xmlns:a16="http://schemas.microsoft.com/office/drawing/2014/main" val="3426639190"/>
                        </a:ext>
                      </a:extLst>
                    </a:gridCol>
                    <a:gridCol w="1610659">
                      <a:extLst>
                        <a:ext uri="{9D8B030D-6E8A-4147-A177-3AD203B41FA5}">
                          <a16:colId xmlns:a16="http://schemas.microsoft.com/office/drawing/2014/main" val="568670381"/>
                        </a:ext>
                      </a:extLst>
                    </a:gridCol>
                  </a:tblGrid>
                  <a:tr h="591283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Performance Variable</a:t>
                          </a:r>
                          <a:endParaRPr lang="en-US" sz="180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Value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Calculation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0133747"/>
                      </a:ext>
                    </a:extLst>
                  </a:tr>
                  <a:tr h="546657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Ideal C* (m/s)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1782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𝑰</m:t>
                                        </m:r>
                                      </m:e>
                                      <m:sub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𝒔𝒑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𝒈</m:t>
                                        </m:r>
                                      </m:e>
                                      <m:sub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𝒇</m:t>
                                        </m:r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4655062"/>
                      </a:ext>
                    </a:extLst>
                  </a:tr>
                  <a:tr h="546657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Actual C* (m/s)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1640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𝑰</m:t>
                                        </m:r>
                                      </m:e>
                                      <m:sub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𝒔𝒑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𝒈</m:t>
                                        </m:r>
                                      </m:e>
                                      <m:sub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𝒇</m:t>
                                        </m:r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1508399"/>
                      </a:ext>
                    </a:extLst>
                  </a:tr>
                  <a:tr h="546657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Ideal Exit Velocity (m/s)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2677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𝒇𝒊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226120"/>
                      </a:ext>
                    </a:extLst>
                  </a:tr>
                  <a:tr h="694144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Actual Exit Velocity (m/s)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2329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b="1" dirty="0"/>
                        </a:p>
                        <a:p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446578"/>
                      </a:ext>
                    </a:extLst>
                  </a:tr>
                  <a:tr h="591283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Total Mass Flow (kg/s)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4.76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</m:acc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  <m:sup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3159"/>
                      </a:ext>
                    </a:extLst>
                  </a:tr>
                  <a:tr h="591283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LOX Mass Flow (kg/s)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3.36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</m:acc>
                                <m:r>
                                  <a:rPr lang="en-US" sz="13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</m:e>
                                      <m:sub>
                                        <m: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  <m:t>𝑳𝑶𝑿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3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</m:e>
                                      <m:sub>
                                        <m: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  <m:t>𝑹𝑷</m:t>
                                        </m:r>
                                        <m: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13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2065485"/>
                      </a:ext>
                    </a:extLst>
                  </a:tr>
                  <a:tr h="591283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RP1 Mass Flow (kg/s)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</m:acc>
                                <m:r>
                                  <a:rPr lang="en-US" sz="13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</m:e>
                                      <m:sub>
                                        <m: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  <m:t>𝑳𝑶𝑿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3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sz="1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</m:e>
                                      <m:sub>
                                        <m: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  <m:t>𝑹𝑷</m:t>
                                        </m:r>
                                        <m:r>
                                          <a:rPr lang="en-US" sz="13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13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65373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6EB72D3-08D8-E47F-83C7-B5C45A7A07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145241"/>
                  </p:ext>
                </p:extLst>
              </p:nvPr>
            </p:nvGraphicFramePr>
            <p:xfrm>
              <a:off x="6257362" y="1339027"/>
              <a:ext cx="5408706" cy="48648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19506">
                      <a:extLst>
                        <a:ext uri="{9D8B030D-6E8A-4147-A177-3AD203B41FA5}">
                          <a16:colId xmlns:a16="http://schemas.microsoft.com/office/drawing/2014/main" val="468937072"/>
                        </a:ext>
                      </a:extLst>
                    </a:gridCol>
                    <a:gridCol w="878541">
                      <a:extLst>
                        <a:ext uri="{9D8B030D-6E8A-4147-A177-3AD203B41FA5}">
                          <a16:colId xmlns:a16="http://schemas.microsoft.com/office/drawing/2014/main" val="3426639190"/>
                        </a:ext>
                      </a:extLst>
                    </a:gridCol>
                    <a:gridCol w="1610659">
                      <a:extLst>
                        <a:ext uri="{9D8B030D-6E8A-4147-A177-3AD203B41FA5}">
                          <a16:colId xmlns:a16="http://schemas.microsoft.com/office/drawing/2014/main" val="568670381"/>
                        </a:ext>
                      </a:extLst>
                    </a:gridCol>
                  </a:tblGrid>
                  <a:tr h="591283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Performance Variable</a:t>
                          </a:r>
                          <a:endParaRPr lang="en-US" sz="1800" b="1" kern="12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Value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Calculation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0133747"/>
                      </a:ext>
                    </a:extLst>
                  </a:tr>
                  <a:tr h="629476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Ideal C* (m/s)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1782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6220" t="-100000" r="-1575" b="-5897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4655062"/>
                      </a:ext>
                    </a:extLst>
                  </a:tr>
                  <a:tr h="629476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Actual C* (m/s)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1640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6220" t="-196000" r="-1575" b="-47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1508399"/>
                      </a:ext>
                    </a:extLst>
                  </a:tr>
                  <a:tr h="546657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Ideal Exit Velocity (m/s)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2677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6220" t="-344186" r="-1575" b="-4558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9226120"/>
                      </a:ext>
                    </a:extLst>
                  </a:tr>
                  <a:tr h="694144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Actual Exit Velocity (m/s)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2329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6220" t="-347273" r="-1575" b="-25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446578"/>
                      </a:ext>
                    </a:extLst>
                  </a:tr>
                  <a:tr h="591283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Total Mass Flow (kg/s)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4.76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6220" t="-523404" r="-157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3159"/>
                      </a:ext>
                    </a:extLst>
                  </a:tr>
                  <a:tr h="591283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LOX Mass Flow (kg/s)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3.36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6220" t="-636957" r="-1575" b="-1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2065485"/>
                      </a:ext>
                    </a:extLst>
                  </a:tr>
                  <a:tr h="591283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RP1 Mass Flow (kg/s)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1.40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6220" t="-721277" r="-1575"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65373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532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5019-34A4-616A-C928-CC0CEBB8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163A-E56F-7953-085B-DD69B27A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08"/>
            <a:ext cx="10515600" cy="1325563"/>
          </a:xfrm>
        </p:spPr>
        <p:txBody>
          <a:bodyPr/>
          <a:lstStyle/>
          <a:p>
            <a:r>
              <a:rPr lang="en-US">
                <a:cs typeface="Rubik SemiBold"/>
              </a:rPr>
              <a:t>Discussion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46C3D-E198-762C-9AA3-07DCB70A1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26C6F-B523-95E7-9C2D-946D313EB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5457"/>
            <a:ext cx="10515600" cy="5402675"/>
          </a:xfrm>
        </p:spPr>
        <p:txBody>
          <a:bodyPr>
            <a:normAutofit/>
          </a:bodyPr>
          <a:lstStyle/>
          <a:p>
            <a:r>
              <a:rPr lang="en-US" dirty="0"/>
              <a:t>Specific Impulse (s)</a:t>
            </a:r>
          </a:p>
          <a:p>
            <a:pPr lvl="1"/>
            <a:r>
              <a:rPr lang="en-US" dirty="0"/>
              <a:t>How efficient the engine is</a:t>
            </a:r>
          </a:p>
          <a:p>
            <a:pPr lvl="1"/>
            <a:r>
              <a:rPr lang="en-US" dirty="0"/>
              <a:t>Higher Isp = more </a:t>
            </a:r>
            <a:r>
              <a:rPr lang="el-GR" dirty="0"/>
              <a:t>Δ</a:t>
            </a:r>
            <a:r>
              <a:rPr lang="en-US" dirty="0"/>
              <a:t>v for the same propellant mass</a:t>
            </a:r>
          </a:p>
          <a:p>
            <a:pPr lvl="1"/>
            <a:r>
              <a:rPr lang="en-US" dirty="0"/>
              <a:t>Factors in optimizing Isp</a:t>
            </a:r>
          </a:p>
          <a:p>
            <a:pPr lvl="2"/>
            <a:r>
              <a:rPr lang="en-US" dirty="0"/>
              <a:t>Propellant choice, MR</a:t>
            </a:r>
          </a:p>
          <a:p>
            <a:r>
              <a:rPr lang="en-US" dirty="0"/>
              <a:t>Characteristic Velocity (m/s)</a:t>
            </a:r>
          </a:p>
          <a:p>
            <a:pPr lvl="1"/>
            <a:r>
              <a:rPr lang="en-US" dirty="0"/>
              <a:t>Quality of combustion in the chamber</a:t>
            </a:r>
          </a:p>
          <a:p>
            <a:pPr lvl="1"/>
            <a:r>
              <a:rPr lang="en-US" dirty="0"/>
              <a:t>Factors in optimizing C*</a:t>
            </a:r>
          </a:p>
          <a:p>
            <a:pPr lvl="2"/>
            <a:r>
              <a:rPr lang="en-US" dirty="0"/>
              <a:t>Injector design, chamber length</a:t>
            </a:r>
          </a:p>
          <a:p>
            <a:r>
              <a:rPr lang="en-US" dirty="0"/>
              <a:t>Thrust Coefficient</a:t>
            </a:r>
          </a:p>
          <a:p>
            <a:pPr lvl="1"/>
            <a:r>
              <a:rPr lang="en-US" dirty="0"/>
              <a:t>How effectively the nozzle converts Pc to thrust</a:t>
            </a:r>
          </a:p>
          <a:p>
            <a:pPr lvl="1"/>
            <a:r>
              <a:rPr lang="en-US" dirty="0"/>
              <a:t>Factors in optimizing Cf</a:t>
            </a:r>
          </a:p>
          <a:p>
            <a:pPr lvl="2"/>
            <a:r>
              <a:rPr lang="en-US" dirty="0"/>
              <a:t>Eps: balance between </a:t>
            </a:r>
            <a:r>
              <a:rPr lang="en-US" dirty="0" err="1"/>
              <a:t>underexpanded</a:t>
            </a:r>
            <a:r>
              <a:rPr lang="en-US" dirty="0"/>
              <a:t> and overexpanded</a:t>
            </a: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716EC22-3C06-E032-46F0-C97834393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34" y="1412344"/>
            <a:ext cx="2071473" cy="1108676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C3B24C7-8035-ABE9-04B4-9B3A01C1F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299" y="3191319"/>
            <a:ext cx="1893986" cy="1108675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9C01FEE-5E50-6281-FCA9-29E2DC45C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491" y="360424"/>
            <a:ext cx="2071473" cy="1051920"/>
          </a:xfrm>
          <a:prstGeom prst="rect">
            <a:avLst/>
          </a:prstGeom>
        </p:spPr>
      </p:pic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007F8DF-E614-7727-AEB8-7C53A8C432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34" y="4970293"/>
            <a:ext cx="2019917" cy="110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36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BDFB9-393C-EE00-1A4D-FE66FBBC5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AADC3-3835-898F-EAC9-C1C79A81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2CB466B-FEAF-B978-4E5F-9541B3CA69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4425868"/>
                  </p:ext>
                </p:extLst>
              </p:nvPr>
            </p:nvGraphicFramePr>
            <p:xfrm>
              <a:off x="481102" y="1339027"/>
              <a:ext cx="5614897" cy="25655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6066">
                      <a:extLst>
                        <a:ext uri="{9D8B030D-6E8A-4147-A177-3AD203B41FA5}">
                          <a16:colId xmlns:a16="http://schemas.microsoft.com/office/drawing/2014/main" val="468937072"/>
                        </a:ext>
                      </a:extLst>
                    </a:gridCol>
                    <a:gridCol w="823061">
                      <a:extLst>
                        <a:ext uri="{9D8B030D-6E8A-4147-A177-3AD203B41FA5}">
                          <a16:colId xmlns:a16="http://schemas.microsoft.com/office/drawing/2014/main" val="3426639190"/>
                        </a:ext>
                      </a:extLst>
                    </a:gridCol>
                    <a:gridCol w="1795770">
                      <a:extLst>
                        <a:ext uri="{9D8B030D-6E8A-4147-A177-3AD203B41FA5}">
                          <a16:colId xmlns:a16="http://schemas.microsoft.com/office/drawing/2014/main" val="568670381"/>
                        </a:ext>
                      </a:extLst>
                    </a:gridCol>
                  </a:tblGrid>
                  <a:tr h="591283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1800" b="1" kern="1200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Geometric Variable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Value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Calculation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0133747"/>
                      </a:ext>
                    </a:extLst>
                  </a:tr>
                  <a:tr h="546657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Throat Area (in^2)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5.869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𝒇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4655062"/>
                      </a:ext>
                    </a:extLst>
                  </a:tr>
                  <a:tr h="546657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Throat Radius (in)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1.367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6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𝑨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𝝅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1508399"/>
                      </a:ext>
                    </a:extLst>
                  </a:tr>
                  <a:tr h="546657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Expansion Ratio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5.3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 err="1"/>
                            <a:t>cea</a:t>
                          </a:r>
                          <a:r>
                            <a:rPr lang="en-US" sz="1600" b="1" dirty="0"/>
                            <a:t>(Cf, Pe, Pc, </a:t>
                          </a:r>
                          <a:r>
                            <a:rPr lang="en-US" sz="1600" b="1" dirty="0" err="1"/>
                            <a:t>Pamb</a:t>
                          </a:r>
                          <a:r>
                            <a:rPr lang="en-US" sz="1600" b="1" dirty="0"/>
                            <a:t>, MR)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2261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2CB466B-FEAF-B978-4E5F-9541B3CA69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4425868"/>
                  </p:ext>
                </p:extLst>
              </p:nvPr>
            </p:nvGraphicFramePr>
            <p:xfrm>
              <a:off x="481102" y="1339027"/>
              <a:ext cx="5614897" cy="25655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6066">
                      <a:extLst>
                        <a:ext uri="{9D8B030D-6E8A-4147-A177-3AD203B41FA5}">
                          <a16:colId xmlns:a16="http://schemas.microsoft.com/office/drawing/2014/main" val="468937072"/>
                        </a:ext>
                      </a:extLst>
                    </a:gridCol>
                    <a:gridCol w="823061">
                      <a:extLst>
                        <a:ext uri="{9D8B030D-6E8A-4147-A177-3AD203B41FA5}">
                          <a16:colId xmlns:a16="http://schemas.microsoft.com/office/drawing/2014/main" val="3426639190"/>
                        </a:ext>
                      </a:extLst>
                    </a:gridCol>
                    <a:gridCol w="1795770">
                      <a:extLst>
                        <a:ext uri="{9D8B030D-6E8A-4147-A177-3AD203B41FA5}">
                          <a16:colId xmlns:a16="http://schemas.microsoft.com/office/drawing/2014/main" val="568670381"/>
                        </a:ext>
                      </a:extLst>
                    </a:gridCol>
                  </a:tblGrid>
                  <a:tr h="591283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1800" b="1" kern="1200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Geometric Variable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Value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Calculation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0133747"/>
                      </a:ext>
                    </a:extLst>
                  </a:tr>
                  <a:tr h="583248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Throat Area (in^2)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5.869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2676" t="-106522" r="-2113" b="-2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4655062"/>
                      </a:ext>
                    </a:extLst>
                  </a:tr>
                  <a:tr h="811911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Throat Radius (in)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1.367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2676" t="-148438" r="-2113" b="-79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150839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b="1" dirty="0"/>
                            <a:t>Expansion Ratio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5.3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 err="1"/>
                            <a:t>cea</a:t>
                          </a:r>
                          <a:r>
                            <a:rPr lang="en-US" sz="1600" b="1" dirty="0"/>
                            <a:t>(Cf, Pe, Pc, </a:t>
                          </a:r>
                          <a:r>
                            <a:rPr lang="en-US" sz="1600" b="1" dirty="0" err="1"/>
                            <a:t>Pamb</a:t>
                          </a:r>
                          <a:r>
                            <a:rPr lang="en-US" sz="1600" b="1" dirty="0"/>
                            <a:t>, MR)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92261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0F4FFFA-3268-710A-4190-3FA37824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90" y="67251"/>
            <a:ext cx="10515600" cy="1325563"/>
          </a:xfrm>
        </p:spPr>
        <p:txBody>
          <a:bodyPr/>
          <a:lstStyle/>
          <a:p>
            <a:r>
              <a:rPr lang="en-US" dirty="0">
                <a:cs typeface="Rubik SemiBold"/>
              </a:rPr>
              <a:t>Geometric Variables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DD03EC-0248-FFF8-D7CF-12D3A9693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459927"/>
              </p:ext>
            </p:extLst>
          </p:nvPr>
        </p:nvGraphicFramePr>
        <p:xfrm>
          <a:off x="6544231" y="209478"/>
          <a:ext cx="5408706" cy="6473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3816">
                  <a:extLst>
                    <a:ext uri="{9D8B030D-6E8A-4147-A177-3AD203B41FA5}">
                      <a16:colId xmlns:a16="http://schemas.microsoft.com/office/drawing/2014/main" val="468937072"/>
                    </a:ext>
                  </a:extLst>
                </a:gridCol>
                <a:gridCol w="878541">
                  <a:extLst>
                    <a:ext uri="{9D8B030D-6E8A-4147-A177-3AD203B41FA5}">
                      <a16:colId xmlns:a16="http://schemas.microsoft.com/office/drawing/2014/main" val="3426639190"/>
                    </a:ext>
                  </a:extLst>
                </a:gridCol>
                <a:gridCol w="926349">
                  <a:extLst>
                    <a:ext uri="{9D8B030D-6E8A-4147-A177-3AD203B41FA5}">
                      <a16:colId xmlns:a16="http://schemas.microsoft.com/office/drawing/2014/main" val="568670381"/>
                    </a:ext>
                  </a:extLst>
                </a:gridCol>
              </a:tblGrid>
              <a:tr h="5912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Geometric Variable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Value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Range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133747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/>
                        <a:t>Nozzle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Bell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55062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r>
                        <a:rPr lang="en-US" b="1" dirty="0"/>
                        <a:t>Chamber Cylindrical Length (in)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508399"/>
                  </a:ext>
                </a:extLst>
              </a:tr>
              <a:tr h="5466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Contraction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3-4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226120"/>
                  </a:ext>
                </a:extLst>
              </a:tr>
              <a:tr h="6941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Convergence Half-Angle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37.5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35-40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446578"/>
                  </a:ext>
                </a:extLst>
              </a:tr>
              <a:tr h="591283">
                <a:tc>
                  <a:txBody>
                    <a:bodyPr/>
                    <a:lstStyle/>
                    <a:p>
                      <a:r>
                        <a:rPr lang="en-US" b="1" dirty="0"/>
                        <a:t>Convergence Radius (</a:t>
                      </a:r>
                      <a:r>
                        <a:rPr lang="en-US" b="1" dirty="0" err="1"/>
                        <a:t>Rc</a:t>
                      </a:r>
                      <a:r>
                        <a:rPr lang="en-US" b="1" dirty="0"/>
                        <a:t>/Rt)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1.0-1.5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503159"/>
                  </a:ext>
                </a:extLst>
              </a:tr>
              <a:tr h="591283">
                <a:tc>
                  <a:txBody>
                    <a:bodyPr/>
                    <a:lstStyle/>
                    <a:p>
                      <a:r>
                        <a:rPr lang="en-US" b="1" dirty="0"/>
                        <a:t>Lead-in Radius (</a:t>
                      </a:r>
                      <a:r>
                        <a:rPr lang="en-US" b="1" dirty="0" err="1"/>
                        <a:t>Rtc</a:t>
                      </a:r>
                      <a:r>
                        <a:rPr lang="en-US" b="1" dirty="0"/>
                        <a:t>/Rt)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65485"/>
                  </a:ext>
                </a:extLst>
              </a:tr>
              <a:tr h="591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Divergence Half-Angle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12-18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537361"/>
                  </a:ext>
                </a:extLst>
              </a:tr>
              <a:tr h="591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Divergence Entrance Angle 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30-32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385791"/>
                  </a:ext>
                </a:extLst>
              </a:tr>
              <a:tr h="591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Divergence Exit Angle 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8-9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809361"/>
                  </a:ext>
                </a:extLst>
              </a:tr>
              <a:tr h="591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Percent Bell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Lf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60-80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12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00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43F5-F998-C004-277D-F1A334C9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515D7-EDE7-7D55-8B2E-136D05AE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FAC743-35D8-DDC0-45C2-A7341817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25" y="291821"/>
            <a:ext cx="10515600" cy="1325563"/>
          </a:xfrm>
        </p:spPr>
        <p:txBody>
          <a:bodyPr/>
          <a:lstStyle/>
          <a:p>
            <a:r>
              <a:rPr lang="en-US" dirty="0">
                <a:cs typeface="Rubik SemiBold"/>
              </a:rPr>
              <a:t>TCA Contour</a:t>
            </a:r>
            <a:endParaRPr lang="en-US" dirty="0"/>
          </a:p>
        </p:txBody>
      </p:sp>
      <p:pic>
        <p:nvPicPr>
          <p:cNvPr id="4" name="Picture 3" descr="A colorful object with a black background&#10;&#10;AI-generated content may be incorrect.">
            <a:extLst>
              <a:ext uri="{FF2B5EF4-FFF2-40B4-BE49-F238E27FC236}">
                <a16:creationId xmlns:a16="http://schemas.microsoft.com/office/drawing/2014/main" id="{817BFD5A-DC93-9D0C-841B-338CFCA78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19" y="1617384"/>
            <a:ext cx="6587163" cy="3769221"/>
          </a:xfrm>
          <a:prstGeom prst="rect">
            <a:avLst/>
          </a:prstGeom>
        </p:spPr>
      </p:pic>
      <p:pic>
        <p:nvPicPr>
          <p:cNvPr id="10" name="Picture 9" descr="A black bottle with a white cap&#10;&#10;AI-generated content may be incorrect.">
            <a:extLst>
              <a:ext uri="{FF2B5EF4-FFF2-40B4-BE49-F238E27FC236}">
                <a16:creationId xmlns:a16="http://schemas.microsoft.com/office/drawing/2014/main" id="{804C5E67-E5E0-FAEF-2878-51566410C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834575" y="807135"/>
            <a:ext cx="2743663" cy="52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666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1ACD-CFEB-4025-E475-421F04A9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6EEEA-8900-E336-E14C-2DD3C9C08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23"/>
            <a:ext cx="10515600" cy="1325563"/>
          </a:xfrm>
        </p:spPr>
        <p:txBody>
          <a:bodyPr/>
          <a:lstStyle/>
          <a:p>
            <a:r>
              <a:rPr lang="en-US" dirty="0">
                <a:cs typeface="Rubik SemiBold"/>
              </a:rPr>
              <a:t>Next Steps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670CE-DC78-1DCD-96CF-CFB16B888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DA780-C10F-4A90-9301-4FE92990845E}" type="slidenum">
              <a:rPr lang="en-US" smtClean="0"/>
              <a:t>17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7446-99D3-6D53-1157-0DEE60DB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102"/>
            <a:ext cx="10515600" cy="5041557"/>
          </a:xfrm>
        </p:spPr>
        <p:txBody>
          <a:bodyPr>
            <a:normAutofit/>
          </a:bodyPr>
          <a:lstStyle/>
          <a:p>
            <a:r>
              <a:rPr lang="en-US" dirty="0"/>
              <a:t>TCA Part 2</a:t>
            </a:r>
          </a:p>
          <a:p>
            <a:r>
              <a:rPr lang="en-US" dirty="0"/>
              <a:t>CFD Analysis</a:t>
            </a:r>
          </a:p>
          <a:p>
            <a:r>
              <a:rPr lang="en-US" dirty="0" err="1"/>
              <a:t>Fullscale</a:t>
            </a:r>
            <a:r>
              <a:rPr lang="en-US" dirty="0"/>
              <a:t> Engine Dev project🙏</a:t>
            </a:r>
          </a:p>
        </p:txBody>
      </p:sp>
    </p:spTree>
    <p:extLst>
      <p:ext uri="{BB962C8B-B14F-4D97-AF65-F5344CB8AC3E}">
        <p14:creationId xmlns:p14="http://schemas.microsoft.com/office/powerpoint/2010/main" val="948458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7166-2531-FA19-24B7-EA4913782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Rubik SemiBold"/>
              </a:rPr>
              <a:t>Thanks for Listening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D2A01-2B73-16E2-664A-799652EC2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85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JSP">
      <a:dk1>
        <a:srgbClr val="333333"/>
      </a:dk1>
      <a:lt1>
        <a:sysClr val="window" lastClr="FFFFFF"/>
      </a:lt1>
      <a:dk2>
        <a:srgbClr val="333333"/>
      </a:dk2>
      <a:lt2>
        <a:srgbClr val="FFFFFF"/>
      </a:lt2>
      <a:accent1>
        <a:srgbClr val="E0A500"/>
      </a:accent1>
      <a:accent2>
        <a:srgbClr val="FFD153"/>
      </a:accent2>
      <a:accent3>
        <a:srgbClr val="FEE08C"/>
      </a:accent3>
      <a:accent4>
        <a:srgbClr val="FFEFC5"/>
      </a:accent4>
      <a:accent5>
        <a:srgbClr val="FFFFFF"/>
      </a:accent5>
      <a:accent6>
        <a:srgbClr val="FFEFC5"/>
      </a:accent6>
      <a:hlink>
        <a:srgbClr val="0563C1"/>
      </a:hlink>
      <a:folHlink>
        <a:srgbClr val="954F72"/>
      </a:folHlink>
    </a:clrScheme>
    <a:fontScheme name="YJSP">
      <a:majorFont>
        <a:latin typeface="Jura SemiBold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303ae73d-8910-4f01-8685-f76cdc2cc7a9" xsi:nil="true"/>
    <_ip_UnifiedCompliancePolicyUIAction xmlns="http://schemas.microsoft.com/sharepoint/v3" xsi:nil="true"/>
    <lcf76f155ced4ddcb4097134ff3c332f xmlns="303ae73d-8910-4f01-8685-f76cdc2cc7a9">
      <Terms xmlns="http://schemas.microsoft.com/office/infopath/2007/PartnerControls"/>
    </lcf76f155ced4ddcb4097134ff3c332f>
    <TaxCatchAll xmlns="f57ad0ef-a541-4c5a-a6f7-f3d1d2771540" xsi:nil="true"/>
    <_ip_UnifiedCompliancePolicyProperties xmlns="http://schemas.microsoft.com/sharepoint/v3" xsi:nil="true"/>
    <_Flow_SignoffStatus xmlns="303ae73d-8910-4f01-8685-f76cdc2cc7a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50221423A68348B0AAE66A295B888F" ma:contentTypeVersion="23" ma:contentTypeDescription="Create a new document." ma:contentTypeScope="" ma:versionID="05e467cd02b41e8696c5657dd3e5a7b4">
  <xsd:schema xmlns:xsd="http://www.w3.org/2001/XMLSchema" xmlns:xs="http://www.w3.org/2001/XMLSchema" xmlns:p="http://schemas.microsoft.com/office/2006/metadata/properties" xmlns:ns1="http://schemas.microsoft.com/sharepoint/v3" xmlns:ns2="303ae73d-8910-4f01-8685-f76cdc2cc7a9" xmlns:ns3="f57ad0ef-a541-4c5a-a6f7-f3d1d2771540" targetNamespace="http://schemas.microsoft.com/office/2006/metadata/properties" ma:root="true" ma:fieldsID="d0fcf47532c05315d7a75c7378746b4f" ns1:_="" ns2:_="" ns3:_="">
    <xsd:import namespace="http://schemas.microsoft.com/sharepoint/v3"/>
    <xsd:import namespace="303ae73d-8910-4f01-8685-f76cdc2cc7a9"/>
    <xsd:import namespace="f57ad0ef-a541-4c5a-a6f7-f3d1d27715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Descrip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3ae73d-8910-4f01-8685-f76cdc2cc7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Description" ma:index="23" nillable="true" ma:displayName="Description" ma:format="Dropdown" ma:internalName="Description">
      <xsd:simpleType>
        <xsd:restriction base="dms:Text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ad0ef-a541-4c5a-a6f7-f3d1d277154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20278004-62f8-4b0a-b958-bcba54b8ff68}" ma:internalName="TaxCatchAll" ma:showField="CatchAllData" ma:web="f57ad0ef-a541-4c5a-a6f7-f3d1d27715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2448DA-27A0-475D-919E-E538B4CC7A80}">
  <ds:schemaRefs>
    <ds:schemaRef ds:uri="303ae73d-8910-4f01-8685-f76cdc2cc7a9"/>
    <ds:schemaRef ds:uri="f57ad0ef-a541-4c5a-a6f7-f3d1d277154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54FA07A-8948-4AD2-93A9-97955065F3B3}">
  <ds:schemaRefs>
    <ds:schemaRef ds:uri="303ae73d-8910-4f01-8685-f76cdc2cc7a9"/>
    <ds:schemaRef ds:uri="f57ad0ef-a541-4c5a-a6f7-f3d1d277154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9674D46-D455-4091-89CF-F28E9261BB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1181</Words>
  <Application>Microsoft Macintosh PowerPoint</Application>
  <PresentationFormat>Widescreen</PresentationFormat>
  <Paragraphs>329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Jura SemiBold</vt:lpstr>
      <vt:lpstr>Aptos</vt:lpstr>
      <vt:lpstr>Cambria Math</vt:lpstr>
      <vt:lpstr>Grandview</vt:lpstr>
      <vt:lpstr>Rubik SemiBold</vt:lpstr>
      <vt:lpstr>Arial</vt:lpstr>
      <vt:lpstr>Office Theme</vt:lpstr>
      <vt:lpstr>TCA Project Part 1</vt:lpstr>
      <vt:lpstr>Project Overview</vt:lpstr>
      <vt:lpstr>Equilibrium Calculator</vt:lpstr>
      <vt:lpstr>PowerPoint Presentation</vt:lpstr>
      <vt:lpstr>Mole Fractions</vt:lpstr>
      <vt:lpstr>Discussion</vt:lpstr>
      <vt:lpstr>Critical Values</vt:lpstr>
      <vt:lpstr>Discussion</vt:lpstr>
      <vt:lpstr>TCA Contour</vt:lpstr>
      <vt:lpstr>PowerPoint Presentation</vt:lpstr>
      <vt:lpstr>MR = 2.4</vt:lpstr>
      <vt:lpstr>MR = 2.4</vt:lpstr>
      <vt:lpstr>Performance Variables</vt:lpstr>
      <vt:lpstr>Discussion</vt:lpstr>
      <vt:lpstr>Geometric Variables</vt:lpstr>
      <vt:lpstr>TCA Contour</vt:lpstr>
      <vt:lpstr>Next Steps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Chan, Jurist D</dc:creator>
  <cp:lastModifiedBy>Yuan, Ryan X</cp:lastModifiedBy>
  <cp:revision>180</cp:revision>
  <dcterms:created xsi:type="dcterms:W3CDTF">2023-12-27T18:02:37Z</dcterms:created>
  <dcterms:modified xsi:type="dcterms:W3CDTF">2025-11-17T03:41:04Z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0x0101000550221423A68348B0AAE66A295B888F</vt:lpwstr>
  </property>
  <property fmtid="{D5CDD505-2E9C-101B-9397-08002B2CF9AE}" pid="3" name="MediaServiceImageTags">
    <vt:lpwstr/>
  </property>
</Properties>
</file>